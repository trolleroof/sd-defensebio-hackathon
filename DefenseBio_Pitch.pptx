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5E786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DEBD0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78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78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78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A64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Median</c:v>
                  </c:pt>
                  <c:pt idx="1">
                    <c:v>Spectral</c:v>
                  </c:pt>
                  <c:pt idx="2">
                    <c:v>Motion spectral</c:v>
                  </c:pt>
                  <c:pt idx="3">
                    <c:v>Ridge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16.2</c:v>
                </c:pt>
                <c:pt idx="1">
                  <c:v>18.4</c:v>
                </c:pt>
                <c:pt idx="2">
                  <c:v>17</c:v>
                </c:pt>
                <c:pt idx="3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DDEBD0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A8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12"/>
        </a:solidFill>
        <a:ln>
          <a:noFill/>
        </a:ln>
        <a:effectLst/>
      </c:spPr>
    </c:plotArea>
    <c:plotVisOnly val="1"/>
    <c:dispBlanksAs val="span"/>
  </c:chart>
  <c:spPr>
    <a:solidFill>
      <a:srgbClr val="0E1A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 PERFORMANCE &amp; PROLONGED FIELD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needs a check, right now?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Wearables + operator dashboard + an agent that learns each person.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0E1A12"/>
          </a:solidFill>
          <a:ln w="12700">
            <a:solidFill>
              <a:srgbClr val="F5D9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9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4023360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E1A12"/>
          </a:solidFill>
          <a:ln w="12700">
            <a:solidFill>
              <a:srgbClr val="7C9A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40233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A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REPLAY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402336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0E1A12"/>
          </a:solidFill>
          <a:ln w="12700">
            <a:solidFill>
              <a:srgbClr val="A6D9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4023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SYNTHETIC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4023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· SD Defense Hackathon · Oct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people. One medic. No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19456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128016" cy="128016"/>
          </a:xfrm>
          <a:prstGeom prst="ellipse">
            <a:avLst/>
          </a:prstGeom>
          <a:solidFill>
            <a:srgbClr val="F5D90A"/>
          </a:solidFill>
          <a:ln w="12700">
            <a:solidFill>
              <a:srgbClr val="F5D9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9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a check?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219456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057400"/>
            <a:ext cx="128016" cy="128016"/>
          </a:xfrm>
          <a:prstGeom prst="ellipse">
            <a:avLst/>
          </a:prstGeom>
          <a:solidFill>
            <a:srgbClr val="B5A642"/>
          </a:solidFill>
          <a:ln w="12700">
            <a:solidFill>
              <a:srgbClr val="B5A6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changed?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560320" cy="219456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057400"/>
            <a:ext cx="128016" cy="128016"/>
          </a:xfrm>
          <a:prstGeom prst="ellipse">
            <a:avLst/>
          </a:prstGeom>
          <a:solidFill>
            <a:srgbClr val="A6D98C"/>
          </a:solidFill>
          <a:ln w="12700">
            <a:solidFill>
              <a:srgbClr val="A6D9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 done?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loop, sensor to reassessment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63040" cy="14630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pulse · motion · button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1463040" cy="14630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317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fresh? valid?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1920240"/>
            <a:ext cx="1463040" cy="14630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observed vs expected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920240"/>
            <a:ext cx="1463040" cy="1463040"/>
          </a:xfrm>
          <a:prstGeom prst="rect">
            <a:avLst/>
          </a:prstGeom>
          <a:solidFill>
            <a:srgbClr val="1B2D20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reason attached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920240"/>
            <a:ext cx="1463040" cy="14630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 · ack · resolve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= check the person or the sensor. Not a diagnosis.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· HARDWARE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wearables. One mesh. 1 Hz.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83080" cy="155448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9A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WEARABLE ×2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Nano ESP32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LSM6DSOX + Polar HR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2606040"/>
            <a:ext cx="301752" cy="0"/>
          </a:xfrm>
          <a:prstGeom prst="line">
            <a:avLst/>
          </a:prstGeom>
          <a:noFill/>
          <a:ln w="19050">
            <a:solidFill>
              <a:srgbClr val="5E786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33472" y="1828800"/>
            <a:ext cx="1783080" cy="155448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9A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70632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 mesh 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USB serial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606040"/>
            <a:ext cx="301752" cy="0"/>
          </a:xfrm>
          <a:prstGeom prst="line">
            <a:avLst/>
          </a:prstGeom>
          <a:noFill/>
          <a:ln w="19050">
            <a:solidFill>
              <a:srgbClr val="5E78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1828800"/>
            <a:ext cx="1783080" cy="155448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9A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mesh_api.py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JSON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01384" y="2606040"/>
            <a:ext cx="301752" cy="0"/>
          </a:xfrm>
          <a:prstGeom prst="line">
            <a:avLst/>
          </a:prstGeom>
          <a:noFill/>
          <a:ln w="19050">
            <a:solidFill>
              <a:srgbClr val="5E786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03136" y="1828800"/>
            <a:ext cx="1783080" cy="1554480"/>
          </a:xfrm>
          <a:prstGeom prst="rect">
            <a:avLst/>
          </a:prstGeom>
          <a:solidFill>
            <a:srgbClr val="1B2D20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0296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 · 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loop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57-byte packets · star topology · offline after 10 s · HR missing after 5 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·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→ check → acknowledge → resolve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65176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ATTENTION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4572000" cy="594360"/>
          </a:xfrm>
          <a:prstGeom prst="rect">
            <a:avLst/>
          </a:prstGeom>
          <a:solidFill>
            <a:srgbClr val="1B2D20"/>
          </a:solidFill>
          <a:ln w="6350">
            <a:solidFill>
              <a:srgbClr val="2740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54864" cy="594360"/>
          </a:xfrm>
          <a:prstGeom prst="rect">
            <a:avLst/>
          </a:prstGeom>
          <a:solidFill>
            <a:srgbClr val="F5D90A"/>
          </a:solidFill>
          <a:ln w="12700">
            <a:solidFill>
              <a:srgbClr val="F5D9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057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button pressed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0574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D9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4572000" cy="594360"/>
          </a:xfrm>
          <a:prstGeom prst="rect">
            <a:avLst/>
          </a:prstGeom>
          <a:solidFill>
            <a:srgbClr val="1B2D20"/>
          </a:solidFill>
          <a:ln w="6350">
            <a:solidFill>
              <a:srgbClr val="2740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743200"/>
            <a:ext cx="54864" cy="594360"/>
          </a:xfrm>
          <a:prstGeom prst="rect">
            <a:avLst/>
          </a:prstGeom>
          <a:solidFill>
            <a:srgbClr val="B5A642"/>
          </a:solidFill>
          <a:ln w="12700">
            <a:solidFill>
              <a:srgbClr val="B5A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 +24 vs expected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2743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00:41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4572000" cy="594360"/>
          </a:xfrm>
          <a:prstGeom prst="rect">
            <a:avLst/>
          </a:prstGeom>
          <a:solidFill>
            <a:srgbClr val="1B2D20"/>
          </a:solidFill>
          <a:ln w="6350">
            <a:solidFill>
              <a:srgbClr val="2740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29000"/>
            <a:ext cx="54864" cy="594360"/>
          </a:xfrm>
          <a:prstGeom prst="rect">
            <a:avLst/>
          </a:prstGeom>
          <a:solidFill>
            <a:srgbClr val="7C9A7E"/>
          </a:solidFill>
          <a:ln w="12700">
            <a:solidFill>
              <a:srgbClr val="7C9A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29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samples 10 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4290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A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01:30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645920"/>
            <a:ext cx="2834640" cy="804672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938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2560320"/>
            <a:ext cx="2834640" cy="804672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633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EXPECTED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0408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3474720"/>
            <a:ext cx="2834640" cy="804672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547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04088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 values. Screenshot goes here once the live demo runs.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an agent learn one person?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9144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33472" y="1828800"/>
            <a:ext cx="1828800" cy="9144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70632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Investigate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18304" y="1828800"/>
            <a:ext cx="1828800" cy="9144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5464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03136" y="1828800"/>
            <a:ext cx="1828800" cy="9144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0296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solidFill>
            <a:srgbClr val="1B2D20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A6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Test: </a:t>
            </a:r>
            <a:pPr indent="0" marL="0">
              <a:buNone/>
            </a:pPr>
            <a:r>
              <a:rPr lang="en-US" sz="18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vs direct personal fit, same data, same budget, untouched session.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· REAL-DATA ENVIRONMENTS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tasks. Baselines executed.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46888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 MAE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ridge vs 16.2 median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people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46888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0.220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°C MAE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elapsed time wins wearables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people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560320" cy="246888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29.3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 MAE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Pandolf ≈ ridge 32.3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 people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Private-test, best conventional baseline. Person-grouped splits.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PULSE TASK · PRIVATE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bar an agent has to beat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 SO FAR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benchmark already catches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64008" cy="777240"/>
          </a:xfrm>
          <a:prstGeom prst="rect">
            <a:avLst/>
          </a:prstGeom>
          <a:solidFill>
            <a:srgbClr val="F5D90A"/>
          </a:solidFill>
          <a:ln w="12700">
            <a:solidFill>
              <a:srgbClr val="F5D9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5.40 vs 4.70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0" y="1645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agent lost to simple AR (3rd of 6)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046720" cy="7772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64008" cy="777240"/>
          </a:xfrm>
          <a:prstGeom prst="rect">
            <a:avLst/>
          </a:prstGeom>
          <a:solidFill>
            <a:srgbClr val="B5A642"/>
          </a:solidFill>
          <a:ln w="12700">
            <a:solidFill>
              <a:srgbClr val="B5A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23.6 → 44.4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2560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on dev, worse on test: overfit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77724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474720"/>
            <a:ext cx="64008" cy="777240"/>
          </a:xfrm>
          <a:prstGeom prst="rect">
            <a:avLst/>
          </a:prstGeom>
          <a:solidFill>
            <a:srgbClr val="A6D98C"/>
          </a:solidFill>
          <a:ln w="12700">
            <a:solidFill>
              <a:srgbClr val="A6D9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74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72.7%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0" y="3474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90% intervals covered only 72.7%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Small pilots. They prove the harness measures; not who wins.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POST-TRAINING · CODE BUILT, NOT RUN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 → GRPO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3716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RUNPOD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verl + vLLM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GRPO trainer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514600"/>
            <a:ext cx="320040" cy="0"/>
          </a:xfrm>
          <a:prstGeom prst="line">
            <a:avLst/>
          </a:prstGeom>
          <a:noFill/>
          <a:ln w="19050">
            <a:solidFill>
              <a:srgbClr val="5E786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828800"/>
            <a:ext cx="2468880" cy="13716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network-blocked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sandboxes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2514600"/>
            <a:ext cx="320040" cy="0"/>
          </a:xfrm>
          <a:prstGeom prst="line">
            <a:avLst/>
          </a:prstGeom>
          <a:noFill/>
          <a:ln w="19050">
            <a:solidFill>
              <a:srgbClr val="5E78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828800"/>
            <a:ext cx="2468880" cy="1371600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labels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holdout reward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D9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GPU run yet. No checkpoint. No measured gain.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A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 TONIGHT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Done, partial, tomorrow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37944"/>
            <a:ext cx="128016" cy="128016"/>
          </a:xfrm>
          <a:prstGeom prst="ellipse">
            <a:avLst/>
          </a:prstGeom>
          <a:solidFill>
            <a:srgbClr val="A6D98C"/>
          </a:solidFill>
          <a:ln w="12700">
            <a:solidFill>
              <a:srgbClr val="A6D9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Mesh +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60020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837944"/>
            <a:ext cx="128016" cy="128016"/>
          </a:xfrm>
          <a:prstGeom prst="ellipse">
            <a:avLst/>
          </a:prstGeom>
          <a:solidFill>
            <a:srgbClr val="A6D98C"/>
          </a:solidFill>
          <a:ln w="12700">
            <a:solidFill>
              <a:srgbClr val="A6D9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002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Pulse / Heat / Load envs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160020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D9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551176"/>
            <a:ext cx="128016" cy="128016"/>
          </a:xfrm>
          <a:prstGeom prst="ellipse">
            <a:avLst/>
          </a:prstGeom>
          <a:solidFill>
            <a:srgbClr val="F5D90A"/>
          </a:solidFill>
          <a:ln w="12700">
            <a:solidFill>
              <a:srgbClr val="F5D9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134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consented 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313432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D9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TOMORROW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313432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551176"/>
            <a:ext cx="128016" cy="128016"/>
          </a:xfrm>
          <a:prstGeom prst="ellipse">
            <a:avLst/>
          </a:prstGeom>
          <a:solidFill>
            <a:srgbClr val="F5D90A"/>
          </a:solidFill>
          <a:ln w="12700">
            <a:solidFill>
              <a:srgbClr val="F5D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3134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predictor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313432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D9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TOMORROW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64408"/>
            <a:ext cx="128016" cy="128016"/>
          </a:xfrm>
          <a:prstGeom prst="ellipse">
            <a:avLst/>
          </a:prstGeom>
          <a:solidFill>
            <a:srgbClr val="B5A642"/>
          </a:solidFill>
          <a:ln w="12700">
            <a:solidFill>
              <a:srgbClr val="B5A6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02666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vs direct fit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026664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026664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264408"/>
            <a:ext cx="128016" cy="128016"/>
          </a:xfrm>
          <a:prstGeom prst="ellipse">
            <a:avLst/>
          </a:prstGeom>
          <a:solidFill>
            <a:srgbClr val="B5A642"/>
          </a:solidFill>
          <a:ln w="12700">
            <a:solidFill>
              <a:srgbClr val="B5A6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02666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judge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026664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739896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77640"/>
            <a:ext cx="128016" cy="128016"/>
          </a:xfrm>
          <a:prstGeom prst="ellipse">
            <a:avLst/>
          </a:prstGeom>
          <a:solidFill>
            <a:srgbClr val="B5A642"/>
          </a:solidFill>
          <a:ln w="12700">
            <a:solidFill>
              <a:srgbClr val="B5A6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3989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GRPO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73989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739896"/>
            <a:ext cx="3931920" cy="603504"/>
          </a:xfrm>
          <a:prstGeom prst="rect">
            <a:avLst/>
          </a:prstGeom>
          <a:solidFill>
            <a:srgbClr val="142218"/>
          </a:solidFill>
          <a:ln w="9525">
            <a:solidFill>
              <a:srgbClr val="2740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977640"/>
            <a:ext cx="128016" cy="128016"/>
          </a:xfrm>
          <a:prstGeom prst="ellipse">
            <a:avLst/>
          </a:prstGeom>
          <a:solidFill>
            <a:srgbClr val="5E7862"/>
          </a:solidFill>
          <a:ln w="12700">
            <a:solidFill>
              <a:srgbClr val="5E78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73989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Trained checkpoint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73989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STARTED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DEFENSEBIO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FINISHING TOMORROW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 the loop, live.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hardware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67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67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 capture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340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 loop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A6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009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vs direct fit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8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a diagnosis. Not clinical. Synthetic stays labeled.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DefenseBio — Pitch</dc:title>
  <dc:subject>PptxGenJS Presentation</dc:subject>
  <dc:creator>PptxGenJS</dc:creator>
  <cp:lastModifiedBy>PptxGenJS</cp:lastModifiedBy>
  <cp:revision>1</cp:revision>
  <dcterms:created xsi:type="dcterms:W3CDTF">2026-10-18T14:36:30Z</dcterms:created>
  <dcterms:modified xsi:type="dcterms:W3CDTF">2026-10-18T14:36:30Z</dcterms:modified>
</cp:coreProperties>
</file>